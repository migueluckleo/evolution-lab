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2696a048f84ec0" /><Relationship Type="http://schemas.openxmlformats.org/officeDocument/2006/relationships/extended-properties" Target="/docProps/app.xml" Id="R15f82d5f6be74e9a" /><Relationship Type="http://schemas.openxmlformats.org/officeDocument/2006/relationships/officeDocument" Target="/ppt/presentation.xml" Id="R06f9e97ce32b4b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da262a2005496b"/>
  </p:sldMasterIdLst>
  <p:notesMasterIdLst>
    <p:notesMasterId xmlns:r="http://schemas.openxmlformats.org/officeDocument/2006/relationships" r:id="R9d4ce1e6fd4649ca"/>
  </p:notesMasterIdLst>
  <p:sldIdLst>
    <p:sldId xmlns:r="http://schemas.openxmlformats.org/officeDocument/2006/relationships" id="256" r:id="Rad9988d327f346f6"/>
    <p:sldId xmlns:r="http://schemas.openxmlformats.org/officeDocument/2006/relationships" id="257" r:id="R62a4d2d7e01f4246"/>
    <p:sldId xmlns:r="http://schemas.openxmlformats.org/officeDocument/2006/relationships" id="258" r:id="R54d6f35beed24d7d"/>
    <p:sldId xmlns:r="http://schemas.openxmlformats.org/officeDocument/2006/relationships" id="259" r:id="R44c48cef67274e91"/>
    <p:sldId xmlns:r="http://schemas.openxmlformats.org/officeDocument/2006/relationships" id="260" r:id="R4a776ad80e524e2f"/>
    <p:sldId xmlns:r="http://schemas.openxmlformats.org/officeDocument/2006/relationships" id="261" r:id="R64f95634fef94f68"/>
    <p:sldId xmlns:r="http://schemas.openxmlformats.org/officeDocument/2006/relationships" id="262" r:id="Raa42f3f5a57b48b8"/>
    <p:sldId xmlns:r="http://schemas.openxmlformats.org/officeDocument/2006/relationships" id="263" r:id="R8c9a40b0b84b47a4"/>
    <p:sldId xmlns:r="http://schemas.openxmlformats.org/officeDocument/2006/relationships" id="264" r:id="R9445434c9bcb4b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1281d8cf764baa" /><Relationship Type="http://schemas.openxmlformats.org/officeDocument/2006/relationships/slideMaster" Target="/ppt/slideMasters/slideMaster1.xml" Id="R7fda262a2005496b" /><Relationship Type="http://schemas.openxmlformats.org/officeDocument/2006/relationships/notesMaster" Target="/ppt/notesMasters/notesMaster1.xml" Id="R9d4ce1e6fd4649ca" /><Relationship Type="http://schemas.openxmlformats.org/officeDocument/2006/relationships/presProps" Target="/ppt/presProps.xml" Id="Rccfcb4467b5f4131" /><Relationship Type="http://schemas.openxmlformats.org/officeDocument/2006/relationships/tableStyles" Target="/ppt/tableStyles.xml" Id="Rb192256b634f47a1" /><Relationship Type="http://schemas.openxmlformats.org/officeDocument/2006/relationships/slide" Target="/ppt/slides/slide1.xml" Id="Rad9988d327f346f6" /><Relationship Type="http://schemas.openxmlformats.org/officeDocument/2006/relationships/slide" Target="/ppt/slides/slide2.xml" Id="R62a4d2d7e01f4246" /><Relationship Type="http://schemas.openxmlformats.org/officeDocument/2006/relationships/slide" Target="/ppt/slides/slide3.xml" Id="R54d6f35beed24d7d" /><Relationship Type="http://schemas.openxmlformats.org/officeDocument/2006/relationships/slide" Target="/ppt/slides/slide4.xml" Id="R44c48cef67274e91" /><Relationship Type="http://schemas.openxmlformats.org/officeDocument/2006/relationships/slide" Target="/ppt/slides/slide5.xml" Id="R4a776ad80e524e2f" /><Relationship Type="http://schemas.openxmlformats.org/officeDocument/2006/relationships/slide" Target="/ppt/slides/slide6.xml" Id="R64f95634fef94f68" /><Relationship Type="http://schemas.openxmlformats.org/officeDocument/2006/relationships/slide" Target="/ppt/slides/slide7.xml" Id="Raa42f3f5a57b48b8" /><Relationship Type="http://schemas.openxmlformats.org/officeDocument/2006/relationships/slide" Target="/ppt/slides/slide8.xml" Id="R8c9a40b0b84b47a4" /><Relationship Type="http://schemas.openxmlformats.org/officeDocument/2006/relationships/slide" Target="/ppt/slides/slide9.xml" Id="R9445434c9bcb4b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6724c2453442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aa08b5fa9341f7" /><Relationship Type="http://schemas.openxmlformats.org/officeDocument/2006/relationships/notesMaster" Target="/ppt/notesMasters/notesMaster1.xml" Id="R207f04e75f6944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558754e4b94115" /><Relationship Type="http://schemas.openxmlformats.org/officeDocument/2006/relationships/notesMaster" Target="/ppt/notesMasters/notesMaster1.xml" Id="R4c34e174733e45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e929bcf98e42f9" /><Relationship Type="http://schemas.openxmlformats.org/officeDocument/2006/relationships/notesMaster" Target="/ppt/notesMasters/notesMaster1.xml" Id="R8f1c90261cdf48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d41402523b48c8" /><Relationship Type="http://schemas.openxmlformats.org/officeDocument/2006/relationships/notesMaster" Target="/ppt/notesMasters/notesMaster1.xml" Id="R8f0c04e9b23947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5d6fcbb25c473c" /><Relationship Type="http://schemas.openxmlformats.org/officeDocument/2006/relationships/notesMaster" Target="/ppt/notesMasters/notesMaster1.xml" Id="R76bd0341a0124f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0a5a37972748c4" /><Relationship Type="http://schemas.openxmlformats.org/officeDocument/2006/relationships/notesMaster" Target="/ppt/notesMasters/notesMaster1.xml" Id="R8ff91d18690348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a386ca7b394ce7" /><Relationship Type="http://schemas.openxmlformats.org/officeDocument/2006/relationships/notesMaster" Target="/ppt/notesMasters/notesMaster1.xml" Id="R8379e99e2b1448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f97846c2ea40c4" /><Relationship Type="http://schemas.openxmlformats.org/officeDocument/2006/relationships/notesMaster" Target="/ppt/notesMasters/notesMaster1.xml" Id="Rfacd45cc82814e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82f3553c1443d3" /><Relationship Type="http://schemas.openxmlformats.org/officeDocument/2006/relationships/notesMaster" Target="/ppt/notesMasters/notesMaster1.xml" Id="Rba72eadff6fd44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Dirección explícita del usuario · 2026-10-01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Dirección explícita del usuario · 2026-10-01</a:t>
            </a:r>
          </a:p>
          <a:p xmlns:a="http://schemas.openxmlformats.org/drawingml/2006/main">
            <a:r>
              <a:t>protocols/03-CONTRACT-SYNTHESIS.md §§7-8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AGENTS.md · Autoridad documental</a:t>
            </a:r>
          </a:p>
          <a:p xmlns:a="http://schemas.openxmlformats.org/drawingml/2006/main">
            <a:r>
              <a:t>protocols/03-CONTRACT-SYNTHESIS.md §§8-9</a:t>
            </a:r>
          </a:p>
          <a:p xmlns:a="http://schemas.openxmlformats.org/drawingml/2006/main">
            <a:r>
              <a:t>Dirección explícita del usuario · 2026-10-01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README.md · Flujo SDD</a:t>
            </a:r>
          </a:p>
          <a:p xmlns:a="http://schemas.openxmlformats.org/drawingml/2006/main">
            <a:r>
              <a:t>protocols/03-CONTRACT-SYNTHESIS.md</a:t>
            </a:r>
          </a:p>
          <a:p xmlns:a="http://schemas.openxmlformats.org/drawingml/2006/main">
            <a:r>
              <a:t>protocols/06-QA-AND-VALIDATION.md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AGENTS.md · Autoridad documental y pila web prevista</a:t>
            </a:r>
          </a:p>
          <a:p xmlns:a="http://schemas.openxmlformats.org/drawingml/2006/main">
            <a:r>
              <a:t>protocols/03-CONTRACT-SYNTHESIS.md §9</a:t>
            </a:r>
          </a:p>
          <a:p xmlns:a="http://schemas.openxmlformats.org/drawingml/2006/main">
            <a:r>
              <a:t>Dirección explícita del usuario · 2026-10-01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protocols/05-SELF-DOCUMENTATION-AND-TRACEABILITY.md</a:t>
            </a:r>
          </a:p>
          <a:p xmlns:a="http://schemas.openxmlformats.org/drawingml/2006/main">
            <a:r>
              <a:t>Dirección explícita del usuario · 2026-10-01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protocols/03-CONTRACT-SYNTHESIS.md §9 · Mapeo Figma/frontend</a:t>
            </a:r>
          </a:p>
          <a:p xmlns:a="http://schemas.openxmlformats.org/drawingml/2006/main">
            <a:r>
              <a:t>AGENTS.md · pila React + TypeScript + Vite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Dirección explícita del usuario · 2026-10-01</a:t>
            </a:r>
          </a:p>
          <a:p xmlns:a="http://schemas.openxmlformats.org/drawingml/2006/main">
            <a:r>
              <a:t>protocols/05-SELF-DOCUMENTATION-AND-TRACEABILITY.md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del repositorio:</a:t>
            </a:r>
          </a:p>
          <a:p xmlns:a="http://schemas.openxmlformats.org/drawingml/2006/main">
            <a:r>
              <a:t>Dirección explícita del usuario · 2026-10-01</a:t>
            </a:r>
          </a:p>
          <a:p xmlns:a="http://schemas.openxmlformats.org/drawingml/2006/main">
            <a:r>
              <a:t>AGENTS.md · la implementación web requiere autorización separada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1e1a3ccfa546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ed843272504244" /><Relationship Type="http://schemas.openxmlformats.org/officeDocument/2006/relationships/slideLayout" Target="/ppt/slideLayouts/slideLayout1.xml" Id="R5456740bcbad48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56740bcbad48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d21fd24dc45be" /><Relationship Type="http://schemas.openxmlformats.org/officeDocument/2006/relationships/notesSlide" Target="/ppt/notesSlides/notesSlide1.xml" Id="R6e60b8bf547144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7c8f73630431c" /><Relationship Type="http://schemas.openxmlformats.org/officeDocument/2006/relationships/notesSlide" Target="/ppt/notesSlides/notesSlide2.xml" Id="R3ed38bdc3b4d44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16bdb796e4379" /><Relationship Type="http://schemas.openxmlformats.org/officeDocument/2006/relationships/notesSlide" Target="/ppt/notesSlides/notesSlide3.xml" Id="R2ec3da0757404f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a7365e25348cc" /><Relationship Type="http://schemas.openxmlformats.org/officeDocument/2006/relationships/notesSlide" Target="/ppt/notesSlides/notesSlide4.xml" Id="Re92552a513864e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23880418d4278" /><Relationship Type="http://schemas.openxmlformats.org/officeDocument/2006/relationships/notesSlide" Target="/ppt/notesSlides/notesSlide5.xml" Id="R5a301841521840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7a4e5c048473f" /><Relationship Type="http://schemas.openxmlformats.org/officeDocument/2006/relationships/notesSlide" Target="/ppt/notesSlides/notesSlide6.xml" Id="Rc4243ea19b794d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6074a93a34045" /><Relationship Type="http://schemas.openxmlformats.org/officeDocument/2006/relationships/notesSlide" Target="/ppt/notesSlides/notesSlide7.xml" Id="R3e13c87978334d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04d18fe2842fb" /><Relationship Type="http://schemas.openxmlformats.org/officeDocument/2006/relationships/notesSlide" Target="/ppt/notesSlides/notesSlide8.xml" Id="R96f440b2e78c4b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180585b174f22" /><Relationship Type="http://schemas.openxmlformats.org/officeDocument/2006/relationships/notesSlide" Target="/ppt/notesSlides/notesSlide9.xml" Id="R0022e50844794b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98491-EAAF-47DD-AFF1-2CFFC3FA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97AB7-8A77-4E34-8AA2-B8627B6D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ED7D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ED7D1"/>
                </a:solidFill>
                <a:latin typeface="Arial"/>
                <a:ea typeface="Arial"/>
                <a:cs typeface="Arial"/>
              </a:rPr>
              <a:t>VISIÓN DE INNOVACIÓN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16CCA-DF90-4EE4-87F7-A74F143C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Contratos como motor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 innovación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F24FD-5D47-4088-B8CB-7F8C702D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0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E0E8"/>
                </a:solidFill>
                <a:latin typeface="Arial"/>
                <a:ea typeface="Arial"/>
                <a:cs typeface="Arial"/>
              </a:rPr>
              <a:t>Automatizar pruebas de concepto y traducir intención a código desde una fuente de verdad estricta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13514-1FF7-4CBA-844D-51283872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A3BAC-69BE-4153-B0E5-5052F16C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0C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0CF"/>
                </a:solidFill>
                <a:latin typeface="Arial"/>
                <a:ea typeface="Arial"/>
                <a:cs typeface="Arial"/>
              </a:rPr>
              <a:t>Specs Driven Design · Octubre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C30D8-061A-49B3-906F-5693E9DA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14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AI-Design-System</a:t>
            </a:r>
          </a:p>
        </p:txBody>
      </p:sp>
    </p:spTree>
    <p:extLst>
      <p:ext uri="{BB962C8B-B14F-4D97-AF65-F5344CB8AC3E}">
        <p14:creationId xmlns:p14="http://schemas.microsoft.com/office/powerpoint/2010/main" val="14792931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E304C6-E99A-4F15-ACA4-BA7A2082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629D0-FE9C-4409-803C-5F9C2C95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El cuello de botella es la interpretación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F5311-4A4A-4C85-BA7D-EFB684FD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4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A8494"/>
                </a:solidFill>
                <a:latin typeface="Arial"/>
                <a:ea typeface="Arial"/>
                <a:cs typeface="Arial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FB2AE-971D-4EA4-B087-4A060650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4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A849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BD5A0-7403-4CA7-A4FA-9B88015C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66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Cuando la fuente principal es visual, cada entrega vuelve a interpretar intención, comportamiento y semántica.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C8098-A991-4E4B-9A7F-3CAD242C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6191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El resultado depende de quién lee el diseño, qué contexto conoce y cómo traduce decisiones implícitas a prototipo o código.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4AAFE-D12C-42D5-BAAA-CCE4D818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764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1CED8-6C34-491E-B919-5FEEAAE6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Decisiones implícitas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E0673-1A3D-4A2E-9814-575D3ECC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383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La apariencia no expresa todas las reglas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E1200-C852-4B5C-A180-F17C729C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05100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CB952-673A-4198-8956-AF6C28D5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337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F22F51-0CA2-4BFB-8E0C-0C1637CF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146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Dependencia individual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61AD6-A9B4-4117-AA51-A992BAC0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956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El conocimiento se concentra en pocas personas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0AB7B7-A776-4302-83CB-DC4680A1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62400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7E07D-5647-473C-B261-D903A746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91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3D6B04-4DD8-48BB-8D4F-6037F79A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71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Deriva entre destinos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94F427-CB93-423E-8DF8-F7F51DE9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529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Figma, prototipo y código pueden contar historias distintas</a:t>
            </a:r>
          </a:p>
        </p:txBody>
      </p:sp>
    </p:spTree>
    <p:extLst>
      <p:ext uri="{BB962C8B-B14F-4D97-AF65-F5344CB8AC3E}">
        <p14:creationId xmlns:p14="http://schemas.microsoft.com/office/powerpoint/2010/main" val="1209490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B3CBC-B2A1-4732-86D0-880B2E3D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APUESTA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028F4-6942-45D6-95B7-D0D060D7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 fuente de verdad cambia de lugar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F0490-6A91-45A2-B0BF-20CCA0DB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4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A8494"/>
                </a:solidFill>
                <a:latin typeface="Arial"/>
                <a:ea typeface="Arial"/>
                <a:cs typeface="Arial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768F0-750F-498F-AB68-B0DE5483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4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A849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791CD-963B-469D-B6EB-CE1F4B22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El contrato se convierte en la interfaz operativa entre una idea y sus implementaciones.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83D05-45D7-4497-AD34-8CBB9876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INTENCIÓN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FC928-9A79-4444-8520-105770AF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Propósito, reglas y límites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7100C-CCB1-4518-AA5D-209E1DF4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6785A-CAAD-41BC-9359-2B00E93C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051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CONTRATO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E0F00-E7F9-4C32-91B1-F6FD4504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24250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Propiedades, tokens, estados y aceptación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1FBCAF-D820-461B-9A81-AD70F8A7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863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F8A8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F4618-0D6E-4AFD-8E1F-D9AD40C6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051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DESTINOS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9EC07B-A9E2-45D4-B220-190776AB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24250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Prueba de concepto, Figma, código y pruebas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F7D63C-D8D2-41EA-9A26-45100743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863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9F62A-F9BC-48B0-B15B-FEA25944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Los componentes de Figma siguen siendo valiosos, pero pasan a ser una salida gobernada. Ya no cargan por sí solos con toda la intención del sistema.</a:t>
            </a:r>
          </a:p>
        </p:txBody>
      </p:sp>
    </p:spTree>
    <p:extLst>
      <p:ext uri="{BB962C8B-B14F-4D97-AF65-F5344CB8AC3E}">
        <p14:creationId xmlns:p14="http://schemas.microsoft.com/office/powerpoint/2010/main" val="12181005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8F27AC-C05D-4303-9E3C-B957382A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PROCESO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2371F-B804-407F-B4BF-A11FF42F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Ciclo de innovación basado en contratos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72DA0-77CE-4521-B8F9-45CFCF35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4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A8494"/>
                </a:solidFill>
                <a:latin typeface="Arial"/>
                <a:ea typeface="Arial"/>
                <a:cs typeface="Arial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BFE40-A18E-4AB0-9AC2-5DCE0631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4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A849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024EE-A0BB-4496-9786-2C61E151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La experimentación deja evidencia reutilizable en cada vuelta del ciclo.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3541F-74CB-4427-A0C0-80F9A9F9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88464-F724-4A2D-ACAD-43C6CDFA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1C264-3DF8-4D29-A51D-303895A8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527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64A07-5FCB-47E4-9345-FB39AD29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718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Definir la hipótesis y el alcance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C674A-9028-4A33-9091-D2418407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19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0537F-56BF-42D4-A251-71298493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27E5E-8ACE-495C-86A4-DD3892C2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0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66BAC-0C05-4507-92BC-9512BCE2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527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Contrato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5EE17-28BA-41A0-9282-ADAD4837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718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Expresar reglas sin ambigüedad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E729C-0EFB-496D-A5B4-BEC8423A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19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A6DD89-A932-4AC5-9E84-02DEEA78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8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69D839-F032-4622-B552-5D070815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051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CB83D-1FF7-4D10-A223-924403F7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527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Generación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1B63CD-98E9-4A3B-A876-44B5AB6C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Construir una prueba de concepto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9CDBF8-9305-454A-82AA-5E247C0A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8DCCF3-69E3-442F-B86C-5BF62A3F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C65B97-008C-46DD-96DF-33BDCC09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719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Validación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85074C-1BDD-41AB-A47F-CAA71825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9105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Comprobar criterios y comportamiento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1241EC-9953-4675-AB9A-65AFC966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38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D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E8BC84-7B8E-4F85-AB59-C717A0ED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91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311C27-55E3-4ECE-9796-6C431E2F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243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043117-40F9-4251-85DA-BE69E615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719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Aprendizaje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883F0E-CB3E-4EFA-84EC-B8306F6F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9105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Registrar diferencias y decisiones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929AC5-F4F3-4536-B9A1-DCFB3C63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D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95F02B-04E3-4179-BCD6-5A9365C1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91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2A455B-96FA-4578-89EF-50E274D4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243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6C30A5-9BA5-44DD-9B71-835EDD47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719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Nueva versión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179C52-ED10-4914-AE0D-05D6A11D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9105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Reutilizar el conocimiento validado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7B4523-688C-4805-B35A-B2A46560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El prototipo deja de ser un punto final. Se vuelve una ejecución temporal de una especificación versionada.</a:t>
            </a:r>
          </a:p>
        </p:txBody>
      </p:sp>
    </p:spTree>
    <p:extLst>
      <p:ext uri="{BB962C8B-B14F-4D97-AF65-F5344CB8AC3E}">
        <p14:creationId xmlns:p14="http://schemas.microsoft.com/office/powerpoint/2010/main" val="1797633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E3A641-B8D0-4E71-AED3-319458DD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D7D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D7D1"/>
                </a:solidFill>
                <a:latin typeface="Arial"/>
                <a:ea typeface="Arial"/>
                <a:cs typeface="Arial"/>
              </a:rPr>
              <a:t>MODELO OPERATIVO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2775C-400A-4038-A760-7624E880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Arquitectura objetivo de automatización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8D16E-009D-4C97-9A35-53305FFD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7C2C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7C2CE"/>
                </a:solidFill>
                <a:latin typeface="Arial"/>
                <a:ea typeface="Arial"/>
                <a:cs typeface="Arial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B6E1F-0D17-4A99-92D7-93680253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2C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7C2C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F97C6-0369-42F6-AF00-5CCE3EF0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Una especificación estricta puede alimentar múltiples generadores sin volver a interpretar el diseño desde cero.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60302-ACD2-4223-8C69-FEE6F222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D7D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D7D1"/>
                </a:solidFill>
                <a:latin typeface="Arial"/>
                <a:ea typeface="Arial"/>
                <a:cs typeface="Arial"/>
              </a:rPr>
              <a:t>FUENTE DE VERDAD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4F1F6-1292-4DA3-9F79-53BB2F2C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Contrato MD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 JSON canónico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BA44A-20AA-4C74-A744-28ECB809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1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56C62-2752-488F-AD42-9705CD4E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AD6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AD6E0"/>
                </a:solidFill>
                <a:latin typeface="Arial"/>
                <a:ea typeface="Arial"/>
                <a:cs typeface="Arial"/>
              </a:rPr>
              <a:t>Reglas, datos, versiones y criterios comprobables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554E5-DAB3-4EF5-A5DC-4D2D4F88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09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D7D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D7D1"/>
                </a:solidFill>
                <a:latin typeface="Arial"/>
                <a:ea typeface="Arial"/>
                <a:cs typeface="Arial"/>
              </a:rPr>
              <a:t>CAPA DE AUTOMATIZACIÓN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B9300-A540-4668-80AA-863CCCA0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099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Adaptadores y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generadores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A9BB8-270B-4109-9AAB-B5CCA3D2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672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F8A8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AAE489-02FD-4A29-84B8-4302B868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148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AD6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AD6E0"/>
                </a:solidFill>
                <a:latin typeface="Arial"/>
                <a:ea typeface="Arial"/>
                <a:cs typeface="Arial"/>
              </a:rPr>
              <a:t>Transforman la misma especificación para cada destino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E8CDCE-B423-4029-A5F5-EAFB8936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4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D7D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D7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445AC2-70DC-4663-9E87-D3CE9839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Prueba de concepto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0C262-8094-4CAF-935F-BB45D397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0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AD6E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AD6E0"/>
                </a:solidFill>
                <a:latin typeface="Arial"/>
                <a:ea typeface="Arial"/>
                <a:cs typeface="Arial"/>
              </a:rPr>
              <a:t>Exploración rápida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72AB1-6095-4155-B56F-FE5021AE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D7D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D7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87E5E5-8929-4C1A-BFB8-DC85A8BE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14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Figma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A0A1B-E613-4443-9747-8EA4489F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38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AD6E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AD6E0"/>
                </a:solidFill>
                <a:latin typeface="Arial"/>
                <a:ea typeface="Arial"/>
                <a:cs typeface="Arial"/>
              </a:rPr>
              <a:t>Componentes y bindings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7859B4-ABF6-4F67-8DF0-CFF43F45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D7D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D7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A4B3F-E375-4926-AD02-1141533D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52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 + TypeScript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0C08D5-041E-4398-A5E6-6A0A5356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76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AD6E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AD6E0"/>
                </a:solidFill>
                <a:latin typeface="Arial"/>
                <a:ea typeface="Arial"/>
                <a:cs typeface="Arial"/>
              </a:rPr>
              <a:t>API y composición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45896E-F1E4-4DD9-B9E7-F4EF3BBA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292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D7D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D7D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8AA37C-1482-40E1-A649-C18F5E21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91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Pruebas y documentación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3AD35B-6BE0-4C92-AA30-50C328EA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314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AD6E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AD6E0"/>
                </a:solidFill>
                <a:latin typeface="Arial"/>
                <a:ea typeface="Arial"/>
                <a:cs typeface="Arial"/>
              </a:rPr>
              <a:t>Criterios verificables</a:t>
            </a:r>
          </a:p>
        </p:txBody>
      </p:sp>
    </p:spTree>
    <p:extLst>
      <p:ext uri="{BB962C8B-B14F-4D97-AF65-F5344CB8AC3E}">
        <p14:creationId xmlns:p14="http://schemas.microsoft.com/office/powerpoint/2010/main" val="946716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ED7E35-1738-4F71-9FB7-CCC7BA14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DESCENTRALIZACIÓN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77028-9502-4E4B-8FAD-C78D86CD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Ejecución distribuida con gobierno común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FAF11-C740-4292-A230-22CE695A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4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A8494"/>
                </a:solidFill>
                <a:latin typeface="Arial"/>
                <a:ea typeface="Arial"/>
                <a:cs typeface="Arial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64C5F-A631-4701-8BBA-F362BD39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4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A849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EE12B-A14F-48D3-B80C-B2878AC0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La norma permanece centralizada en el contrato. La capacidad de construir se distribuye entre equipos, herramientas y agentes.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B2BA2-43DD-40D8-9106-08AD5B17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7EEDE-5FF1-43E9-A8CA-DFF6C884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Producto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9B408-8BBB-4108-B6B3-70EE5B09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381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Formula hipótesis y restricciones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C49FF-C78B-48D1-81D7-0231962F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010D7C-8C7E-4E02-B0B8-1F78BA02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253AF-F491-4064-836E-2DEB9072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004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Diseño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1B561B-8072-4898-A6BC-A278A00D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43350"/>
            <a:ext cx="2381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Modela experiencia, contenido y tokens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04B5A-0BF7-418C-BF26-1A3261AB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816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1CD064-DE42-4925-9156-92FE83FD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003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AB690A-7DD8-49C2-BC2C-738FACA7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04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Desarrollo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DE3CA6-78EB-4477-A75A-EDA9AFD7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2381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Implementa una API alineada al contrato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B165D-3B31-4646-A892-37519AFF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816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37762D-9604-4C13-80DF-41C92A03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003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D35F54-A7BE-49E6-A620-A5C01CA3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004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Agentes y herramientas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A9FFA5-9B68-4FFD-9947-FD8C4824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43350"/>
            <a:ext cx="2381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Generan, comparan y validan resultados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952E68-FB5C-426E-BCA7-10C23613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816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7C1FCD-AEF4-49EE-9EDA-58FFAFB7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435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Descentralizar no significa perder control. Significa que más actores pueden producir resultados compatibles sin depender de una interpretación privada.</a:t>
            </a:r>
          </a:p>
        </p:txBody>
      </p:sp>
    </p:spTree>
    <p:extLst>
      <p:ext uri="{BB962C8B-B14F-4D97-AF65-F5344CB8AC3E}">
        <p14:creationId xmlns:p14="http://schemas.microsoft.com/office/powerpoint/2010/main" val="15798842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BB3AA5-6A1D-4716-AEFC-FB104945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DISEÑO Y DESARROLLO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F440A-B363-4267-9748-1F69E505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Traducción limpia hacia código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290A5-CD53-432B-B97E-28365141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4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A8494"/>
                </a:solidFill>
                <a:latin typeface="Arial"/>
                <a:ea typeface="Arial"/>
                <a:cs typeface="Arial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502EC-6403-45E8-AF98-6987ECF9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4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A849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C3560-69B6-4953-B7B9-B6B0BC4C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El contrato reduce las decisiones que el código tendría que inferir desde una imagen o un archivo de diseño.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1D6E2-0298-47C7-8088-1BBB6B52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Propiedades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432EF-C695-4609-B6DD-A6CB6910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Nombres y combinaciones permitidas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98B04-D947-47C1-A59B-9FB5DD6B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71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Props y tipos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258AB-173B-4FA9-8D03-D30304E6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DA5FA-C88A-4DD2-B40E-05BCC389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Estados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1A94A-2934-4B0F-B6E5-3DBAFC36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147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Reglas y transiciones explícitas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A8380-FA04-4834-9FBD-4B0D8483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147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Lógica verificable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8E006-2AE5-4A3C-9BD9-BD6AC9EC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B84550-2477-4752-B12E-F335E0FF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Tokens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5F5093-DD91-433A-9EF2-7415EF22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576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Roles, modos y aliases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7593E8-1F49-42A3-B572-4B2672FA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576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Variables consumibles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ECEF77-5960-4B40-9321-176DC9F2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913E7-D236-46A1-A511-8B303DDC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Aceptación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3DC786-5ADF-4A25-B509-CA37AA50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006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Criterios observables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21B13A-3AB9-44AB-87D8-31DD46A9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800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Pruebas automatizables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43B9B2-C1F3-416A-A05F-3CB40D81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287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61AE94-D145-41A3-A230-2F0AAE3D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975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Figma deja de ser el traductor obligatorio. El contrato permite reconstruir la intención en cada tecnología.</a:t>
            </a:r>
          </a:p>
        </p:txBody>
      </p:sp>
    </p:spTree>
    <p:extLst>
      <p:ext uri="{BB962C8B-B14F-4D97-AF65-F5344CB8AC3E}">
        <p14:creationId xmlns:p14="http://schemas.microsoft.com/office/powerpoint/2010/main" val="19452262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B7565C-0C03-4D72-81E1-F01FF561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IMPACTO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85706-88C8-4264-BFAA-8AF2874D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Capacidad de innovación esperada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047D3-D082-48F5-8459-8928FCDA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4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A8494"/>
                </a:solidFill>
                <a:latin typeface="Arial"/>
                <a:ea typeface="Arial"/>
                <a:cs typeface="Arial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8ADBD-D9DD-4DC1-99F8-615E9CAE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849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A849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3BA94-F00A-4A6F-B69D-64FED53B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A3B4D-9798-48AE-A1DB-9370892E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716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Más pruebas de concepto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76A16-5578-4BF1-AB22-A97254B6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05050"/>
            <a:ext cx="428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El costo de comenzar disminuye porque la estructura básica ya está especificada.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7411E-C218-4EDF-9F67-84DE605C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ADAD69-7CD2-4667-8234-049563AD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06BD1-6302-4E42-9954-045F5B22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716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Experimentos en paralelo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94EFA-E3A1-446C-98CD-3DA88F54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428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Distintos equipos pueden explorar destinos sin romper la fuente compartida.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A326B-AE14-4C89-97CD-46B43187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9090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916FB-D282-45C8-9F55-B40E239C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50C3E1-0513-4C59-B021-71A8F652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719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Aprendizaje reutilizable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F332D-980C-4618-B2E3-5D8E8452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05300"/>
            <a:ext cx="428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Las decisiones sobreviven al prototipo y alimentan la siguiente versión.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E5D2A6-ECFA-4DFE-8EC8-3547B645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C7D89F-5EAB-48A0-9E5E-21CB8061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100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8A8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8A8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50C531-CBB4-4A40-A027-47613B8F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719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Herramientas reemplazables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669DBA-F78A-4B01-956C-FF735EA9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05300"/>
            <a:ext cx="428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La intención permanece estable aunque cambien Figma, el framework o el generador.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BBEAEA-908E-4B43-8E5F-3A31CC54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911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BF9800-7BEA-4952-A815-023B5D7B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959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La ventaja acumulativa no proviene de producir más pantallas. Proviene de convertir cada decisión validada en infraestructura reutilizable.</a:t>
            </a:r>
          </a:p>
        </p:txBody>
      </p:sp>
    </p:spTree>
    <p:extLst>
      <p:ext uri="{BB962C8B-B14F-4D97-AF65-F5344CB8AC3E}">
        <p14:creationId xmlns:p14="http://schemas.microsoft.com/office/powerpoint/2010/main" val="20127753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55731F-FF0D-4143-BCC3-5B2AC278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ED7D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ED7D1"/>
                </a:solidFill>
                <a:latin typeface="Arial"/>
                <a:ea typeface="Arial"/>
                <a:cs typeface="Arial"/>
              </a:rPr>
              <a:t>RUTA PROPUESTA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C1B83-F399-44DA-90FE-48D26959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Siguiente etapa de innovación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2BFF1-B30C-4A19-969B-7E0F3386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7C2C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7C2CE"/>
                </a:solidFill>
                <a:latin typeface="Arial"/>
                <a:ea typeface="Arial"/>
                <a:cs typeface="Arial"/>
              </a:rPr>
              <a:t>CONTPAQi · Reconstrucción del sistema de diseño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A8BA0-5BF6-4AF8-A6F9-E19B4D9C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2C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7C2C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E3509-E3BD-46CA-93EC-56BC21DE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paso siguiente consiste en demostrar que un mismo contrato puede producir resultados coherentes en más de un destino.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C0713-3DAA-4EFE-B0F5-F1C7C7EB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516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DAF6F-445F-4C5A-BAC4-DC9756ED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1ECA3-621F-4D39-B70D-5DE36156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Elegir una familia piloto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9C224-0F50-4F5D-9529-CD4FAA93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AD6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AD6E0"/>
                </a:solidFill>
                <a:latin typeface="Arial"/>
                <a:ea typeface="Arial"/>
                <a:cs typeface="Arial"/>
              </a:rPr>
              <a:t>Seleccionar un componente con variantes, tokens, contenido variable y criterios de aceptación maduros.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6CA9E-B66E-4A15-A19D-EA30293C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8A8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7EBA1-70C4-4573-9BA2-52ED9005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A9ABD-6119-41B4-9FCA-C7122342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19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23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Automatizar la prueba de concepto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65ACF-E0BC-4228-97E8-7E3EEACE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194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AD6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AD6E0"/>
                </a:solidFill>
                <a:latin typeface="Arial"/>
                <a:ea typeface="Arial"/>
                <a:cs typeface="Arial"/>
              </a:rPr>
              <a:t>Generar una experiencia funcional desde el contrato y conservar el vínculo con sus requisitos.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0F2CA-85AC-4D80-8D33-1621BBA8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516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397B7-EDF0-4498-BA07-1A2BA400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9BB072-79BB-4084-8300-5F44EF09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Traducir a código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4E0829-E457-46A4-9784-19C6F64B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576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AD6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AD6E0"/>
                </a:solidFill>
                <a:latin typeface="Arial"/>
                <a:ea typeface="Arial"/>
                <a:cs typeface="Arial"/>
              </a:rPr>
              <a:t>Producir React + TypeScript con propiedades y pruebas derivadas de la misma especificación.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ED9BA9-7B31-419D-878D-DBD157C2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516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31D171-C06D-4354-AB30-62195C51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689172-8798-4AB1-8831-DA251140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95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Medir y escalar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1C2B3D-9763-428F-B40E-CF817504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958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AD6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AD6E0"/>
                </a:solidFill>
                <a:latin typeface="Arial"/>
                <a:ea typeface="Arial"/>
                <a:cs typeface="Arial"/>
              </a:rPr>
              <a:t>Comparar tiempo, retrabajo y divergencias antes de extender el modelo a más familias.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794120-3339-48AF-81CB-77FC95FC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1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BA1588-F32D-4CF8-8A78-5C5E69F7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ED7D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ED7D1"/>
                </a:solidFill>
                <a:latin typeface="Arial"/>
                <a:ea typeface="Arial"/>
                <a:cs typeface="Arial"/>
              </a:rPr>
              <a:t>Objetivo del piloto: validar el contrato como activo generativo, no solo como documentación.</a:t>
            </a:r>
          </a:p>
        </p:txBody>
      </p:sp>
    </p:spTree>
    <p:extLst>
      <p:ext uri="{BB962C8B-B14F-4D97-AF65-F5344CB8AC3E}">
        <p14:creationId xmlns:p14="http://schemas.microsoft.com/office/powerpoint/2010/main" val="18939345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2026-10-01T23:54:01.6610000Z</dcterms:created>
  <dcterms:modified xsi:type="dcterms:W3CDTF">2026-10-01T23:54:01.6620000Z</dcterms:modified>
</coreProperties>
</file>